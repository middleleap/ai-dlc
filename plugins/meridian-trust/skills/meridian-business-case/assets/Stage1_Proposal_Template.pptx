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4F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logo_defa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5735" y="411480"/>
            <a:ext cx="1417320" cy="27256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74320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0">
                <a:solidFill>
                  <a:srgbClr val="0B4F80"/>
                </a:solidFill>
                <a:latin typeface="Arial"/>
              </a:rPr>
              <a:t>[Project Name]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6616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3A3F44"/>
                </a:solidFill>
                <a:latin typeface="Arial"/>
              </a:rPr>
              <a:t>Stage 1 Project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9601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B7278"/>
                </a:solidFill>
                <a:latin typeface="Arial"/>
              </a:rPr>
              <a:t>Presented by: [Name], [Department]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B7278"/>
                </a:solidFill>
                <a:latin typeface="Arial"/>
              </a:rPr>
              <a:t>Investment Screening Board (ISB)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B7278"/>
                </a:solidFill>
                <a:latin typeface="Arial"/>
              </a:rPr>
              <a:t>Date: DD-MM-YYYY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78"/>
                </a:solidFill>
                <a:latin typeface="Arial"/>
              </a:rPr>
              <a:t>STAGE 1</a:t>
            </a:r>
          </a:p>
        </p:txBody>
      </p:sp>
      <p:pic>
        <p:nvPicPr>
          <p:cNvPr id="3" name="Picture 2" descr="logo_defa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28600"/>
            <a:ext cx="1417320" cy="2725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"/>
            <a:ext cx="10058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0B4F80"/>
                </a:solidFill>
                <a:latin typeface="Arial"/>
              </a:rPr>
              <a:t>One-Page Pre-Screening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A3F44"/>
                </a:solidFill>
                <a:latin typeface="Arial"/>
              </a:rPr>
              <a:t>Investment Screening Board — pre-screening submission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1277295" cy="15240"/>
          </a:xfrm>
          <a:prstGeom prst="rect">
            <a:avLst/>
          </a:prstGeom>
          <a:solidFill>
            <a:srgbClr val="BEC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9AA1A7"/>
                </a:solidFill>
                <a:latin typeface="Arial"/>
              </a:rPr>
              <a:t>Source: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9AA1A7"/>
                </a:solidFill>
                <a:latin typeface="Arial"/>
              </a:rPr>
              <a:t>Meridian Bank | Internal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9AA1A7"/>
                </a:solidFill>
                <a:latin typeface="Arial"/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11277295" cy="384048"/>
          </a:xfrm>
          <a:prstGeom prst="rect">
            <a:avLst/>
          </a:prstGeom>
          <a:solidFill>
            <a:srgbClr val="0B4F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66928" y="141732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Project: [Project Name]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417320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Arial"/>
              </a:rPr>
              <a:t>Budget indicator: $ / $$ / $$$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1417320"/>
            <a:ext cx="2468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Arial"/>
              </a:rPr>
              <a:t>Part of budget / quarterly plan: Y / 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828800"/>
            <a:ext cx="3611880" cy="2057400"/>
          </a:xfrm>
          <a:prstGeom prst="rect">
            <a:avLst/>
          </a:prstGeom>
          <a:solidFill>
            <a:srgbClr val="E9F0F6"/>
          </a:solidFill>
          <a:ln w="9525">
            <a:solidFill>
              <a:srgbClr val="BEC4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66928" y="1901952"/>
            <a:ext cx="33924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83A5E"/>
                </a:solidFill>
                <a:latin typeface="Arial"/>
              </a:rPr>
              <a:t>Project Details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157984"/>
            <a:ext cx="3392424" cy="1636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3A3F44"/>
                </a:solidFill>
                <a:latin typeface="Arial"/>
              </a:rPr>
              <a:t>Project description: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3A3F44"/>
                </a:solidFill>
                <a:latin typeface="Arial"/>
              </a:rPr>
              <a:t>[What the project is about]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3A3F44"/>
                </a:solidFill>
                <a:latin typeface="Arial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3A3F44"/>
                </a:solidFill>
                <a:latin typeface="Arial"/>
              </a:rPr>
              <a:t>Key objectives: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3A3F44"/>
                </a:solidFill>
                <a:latin typeface="Arial"/>
              </a:rPr>
              <a:t>[e.g. tap new customer segment, increase efficiency]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3A3F44"/>
                </a:solidFill>
                <a:latin typeface="Arial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3A3F44"/>
                </a:solidFill>
                <a:latin typeface="Arial"/>
              </a:rPr>
              <a:t>Requestor: [Department], [Executive name]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3A3F44"/>
                </a:solidFill>
                <a:latin typeface="Arial"/>
              </a:rPr>
              <a:t>Category: ☐ KSOR ☐ Efficiency ☐ Regulatory &amp; Risk ☐ Strategic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977640"/>
            <a:ext cx="3611880" cy="1508760"/>
          </a:xfrm>
          <a:prstGeom prst="rect">
            <a:avLst/>
          </a:prstGeom>
          <a:solidFill>
            <a:srgbClr val="E9F0F6"/>
          </a:solidFill>
          <a:ln w="9525">
            <a:solidFill>
              <a:srgbClr val="BEC4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66928" y="4050792"/>
            <a:ext cx="33924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83A5E"/>
                </a:solidFill>
                <a:latin typeface="Arial"/>
              </a:rPr>
              <a:t>Other Assessments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4306824"/>
            <a:ext cx="3392424" cy="10881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3A3F44"/>
                </a:solidFill>
                <a:latin typeface="Arial"/>
              </a:rPr>
              <a:t>Compliance &amp; Risk review: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3A3F44"/>
                </a:solidFill>
                <a:latin typeface="Arial"/>
              </a:rPr>
              <a:t>[e.g. no critical risk identified]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3A3F44"/>
                </a:solidFill>
                <a:latin typeface="Arial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3A3F44"/>
                </a:solidFill>
                <a:latin typeface="Arial"/>
              </a:rPr>
              <a:t>Ops review: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3A3F44"/>
                </a:solidFill>
                <a:latin typeface="Arial"/>
              </a:rPr>
              <a:t>[e.g. XX operations FTEs required for backend processing]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3A3F44"/>
                </a:solidFill>
                <a:latin typeface="Arial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3A3F44"/>
                </a:solidFill>
                <a:latin typeface="Arial"/>
              </a:rPr>
              <a:t>Other assessments: [e.g. no critical observations]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24528" y="1828800"/>
            <a:ext cx="3611880" cy="1417320"/>
          </a:xfrm>
          <a:prstGeom prst="rect">
            <a:avLst/>
          </a:prstGeom>
          <a:solidFill>
            <a:srgbClr val="E9F0F6"/>
          </a:solidFill>
          <a:ln w="9525">
            <a:solidFill>
              <a:srgbClr val="BEC4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334256" y="1901952"/>
            <a:ext cx="33924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83A5E"/>
                </a:solidFill>
                <a:latin typeface="Arial"/>
              </a:rPr>
              <a:t>Business Assessment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34256" y="2157984"/>
            <a:ext cx="3392424" cy="996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3A3F44"/>
                </a:solidFill>
                <a:latin typeface="Arial"/>
              </a:rPr>
              <a:t>Market insights: [target segment size and demographics]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3A3F44"/>
                </a:solidFill>
                <a:latin typeface="Arial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3A3F44"/>
                </a:solidFill>
                <a:latin typeface="Arial"/>
              </a:rPr>
              <a:t>Competitor landscape: [e.g. limited to no direct competitors]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3A3F44"/>
                </a:solidFill>
                <a:latin typeface="Arial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3A3F44"/>
                </a:solidFill>
                <a:latin typeface="Arial"/>
              </a:rPr>
              <a:t>Unique value proposition: [what makes this differentiated]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24528" y="3337560"/>
            <a:ext cx="3611880" cy="2148840"/>
          </a:xfrm>
          <a:prstGeom prst="rect">
            <a:avLst/>
          </a:prstGeom>
          <a:solidFill>
            <a:srgbClr val="E9F0F6"/>
          </a:solidFill>
          <a:ln w="9525">
            <a:solidFill>
              <a:srgbClr val="BEC4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334256" y="3410712"/>
            <a:ext cx="33924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83A5E"/>
                </a:solidFill>
                <a:latin typeface="Arial"/>
              </a:rPr>
              <a:t>Benefits Overview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34256" y="3666744"/>
            <a:ext cx="3392424" cy="1728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3A3F44"/>
                </a:solidFill>
                <a:latin typeface="Arial"/>
              </a:rPr>
              <a:t>Financial benefits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3A3F44"/>
                </a:solidFill>
                <a:latin typeface="Arial"/>
              </a:rPr>
              <a:t>1. Revenue growth — CCY X.X Mn within 12 months of go-live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3A3F44"/>
                </a:solidFill>
                <a:latin typeface="Arial"/>
              </a:rPr>
              <a:t>2. Cost reduction — CCY X.X Mn in FTE savings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3A3F44"/>
                </a:solidFill>
                <a:latin typeface="Arial"/>
              </a:rPr>
              <a:t>3. Cost avoidance — CCY X.X Mn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3A3F44"/>
                </a:solidFill>
                <a:latin typeface="Arial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3A3F44"/>
                </a:solidFill>
                <a:latin typeface="Arial"/>
              </a:rPr>
              <a:t>Other benefits / requirements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3A3F44"/>
                </a:solidFill>
                <a:latin typeface="Arial"/>
              </a:rPr>
              <a:t>1. TAT reduction — XX% of processing time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3A3F44"/>
                </a:solidFill>
                <a:latin typeface="Arial"/>
              </a:rPr>
              <a:t>2. Fines avoidance — CCY X.X Mn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3A3F44"/>
                </a:solidFill>
                <a:latin typeface="Arial"/>
              </a:rPr>
              <a:t>3. Regulatory compliance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91856" y="1828800"/>
            <a:ext cx="3739896" cy="2057400"/>
          </a:xfrm>
          <a:prstGeom prst="rect">
            <a:avLst/>
          </a:prstGeom>
          <a:solidFill>
            <a:srgbClr val="E9F0F6"/>
          </a:solidFill>
          <a:ln w="9525">
            <a:solidFill>
              <a:srgbClr val="BEC4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101584" y="1901952"/>
            <a:ext cx="3520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83A5E"/>
                </a:solidFill>
                <a:latin typeface="Arial"/>
              </a:rPr>
              <a:t>Technical Assessment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01584" y="2157984"/>
            <a:ext cx="3520440" cy="1636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3A3F44"/>
                </a:solidFill>
                <a:latin typeface="Arial"/>
              </a:rPr>
              <a:t>Technology review: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3A3F44"/>
                </a:solidFill>
                <a:latin typeface="Arial"/>
              </a:rPr>
              <a:t>[architecture implications, resource availability]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3A3F44"/>
                </a:solidFill>
                <a:latin typeface="Arial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3A3F44"/>
                </a:solidFill>
                <a:latin typeface="Arial"/>
              </a:rPr>
              <a:t>T-shirt sizing: CCY X.X Mn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3A3F44"/>
                </a:solidFill>
                <a:latin typeface="Arial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3A3F44"/>
                </a:solidFill>
                <a:latin typeface="Arial"/>
              </a:rPr>
              <a:t>Solution selection (Build vs Buy):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3A3F44"/>
                </a:solidFill>
                <a:latin typeface="Arial"/>
              </a:rPr>
              <a:t>[recommendation and rationale]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3A3F44"/>
                </a:solidFill>
                <a:latin typeface="Arial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3A3F44"/>
                </a:solidFill>
                <a:latin typeface="Arial"/>
              </a:rPr>
              <a:t>Key risks &amp; mitigation: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3A3F44"/>
                </a:solidFill>
                <a:latin typeface="Arial"/>
              </a:rPr>
              <a:t>[regulatory approvals, precedent, dependencies]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91856" y="3977640"/>
            <a:ext cx="3739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83A5E"/>
                </a:solidFill>
                <a:latin typeface="Arial"/>
              </a:rPr>
              <a:t>High-Level Plan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7991856" y="4187952"/>
          <a:ext cx="3739896" cy="841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9948"/>
                <a:gridCol w="934974"/>
                <a:gridCol w="934974"/>
              </a:tblGrid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Description</a:t>
                      </a:r>
                    </a:p>
                  </a:txBody>
                  <a:tcPr marL="54864" marR="54864" marT="27432" marB="27432" anchor="ctr">
                    <a:solidFill>
                      <a:srgbClr val="0B4F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Timeline</a:t>
                      </a:r>
                    </a:p>
                  </a:txBody>
                  <a:tcPr marL="54864" marR="54864" marT="27432" marB="27432" anchor="ctr">
                    <a:solidFill>
                      <a:srgbClr val="0B4F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Funding</a:t>
                      </a:r>
                    </a:p>
                  </a:txBody>
                  <a:tcPr marL="54864" marR="54864" marT="27432" marB="27432" anchor="ctr">
                    <a:solidFill>
                      <a:srgbClr val="0B4F80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3A3F44"/>
                          </a:solidFill>
                          <a:latin typeface="Arial"/>
                        </a:rPr>
                        <a:t>MVP — [features]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3A3F44"/>
                          </a:solidFill>
                          <a:latin typeface="Arial"/>
                        </a:rPr>
                        <a:t>3-4 months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3A3F44"/>
                          </a:solidFill>
                          <a:latin typeface="Arial"/>
                        </a:rPr>
                        <a:t>CCY X.X Mn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3A3F44"/>
                          </a:solidFill>
                          <a:latin typeface="Arial"/>
                        </a:rPr>
                        <a:t>Phase 2 — [features]</a:t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3A3F44"/>
                          </a:solidFill>
                          <a:latin typeface="Arial"/>
                        </a:rPr>
                        <a:t>4-6 months</a:t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3A3F44"/>
                          </a:solidFill>
                          <a:latin typeface="Arial"/>
                        </a:rPr>
                        <a:t>CCY X.X Mn</a:t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78"/>
                </a:solidFill>
                <a:latin typeface="Arial"/>
              </a:rPr>
              <a:t>REFERENCE</a:t>
            </a:r>
          </a:p>
        </p:txBody>
      </p:sp>
      <p:pic>
        <p:nvPicPr>
          <p:cNvPr id="3" name="Picture 2" descr="logo_defa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28600"/>
            <a:ext cx="1417320" cy="2725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"/>
            <a:ext cx="10058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0B4F80"/>
                </a:solidFill>
                <a:latin typeface="Arial"/>
              </a:rPr>
              <a:t>Key Challenge Questions (1 of 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A3F44"/>
                </a:solidFill>
                <a:latin typeface="Arial"/>
              </a:rPr>
              <a:t>Questions the ISB will use to challenge this proposal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1277295" cy="15240"/>
          </a:xfrm>
          <a:prstGeom prst="rect">
            <a:avLst/>
          </a:prstGeom>
          <a:solidFill>
            <a:srgbClr val="BEC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9AA1A7"/>
                </a:solidFill>
                <a:latin typeface="Arial"/>
              </a:rPr>
              <a:t>Source: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9AA1A7"/>
                </a:solidFill>
                <a:latin typeface="Arial"/>
              </a:rPr>
              <a:t>Meridian Bank | Internal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9AA1A7"/>
                </a:solidFill>
                <a:latin typeface="Arial"/>
              </a:rPr>
              <a:t>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3611880" cy="2194560"/>
          </a:xfrm>
          <a:prstGeom prst="rect">
            <a:avLst/>
          </a:prstGeom>
          <a:solidFill>
            <a:srgbClr val="E9F0F6"/>
          </a:solidFill>
          <a:ln w="9525">
            <a:solidFill>
              <a:srgbClr val="BEC4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66928" y="1399032"/>
            <a:ext cx="33924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83A5E"/>
                </a:solidFill>
                <a:latin typeface="Arial"/>
              </a:rPr>
              <a:t>1. Project Details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655064"/>
            <a:ext cx="3392424" cy="17739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A3F44"/>
                </a:solidFill>
                <a:latin typeface="Arial"/>
              </a:rPr>
              <a:t>• What is the business rationale?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A3F44"/>
                </a:solidFill>
                <a:latin typeface="Arial"/>
              </a:rPr>
              <a:t>• Is there a simpler solution?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A3F44"/>
                </a:solidFill>
                <a:latin typeface="Arial"/>
              </a:rPr>
              <a:t>• Why now — can it wait?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A3F44"/>
                </a:solidFill>
                <a:latin typeface="Arial"/>
              </a:rPr>
              <a:t>• Who owns the outcome?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24528" y="1325880"/>
            <a:ext cx="3611880" cy="2194560"/>
          </a:xfrm>
          <a:prstGeom prst="rect">
            <a:avLst/>
          </a:prstGeom>
          <a:solidFill>
            <a:srgbClr val="E9F0F6"/>
          </a:solidFill>
          <a:ln w="9525">
            <a:solidFill>
              <a:srgbClr val="BEC4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334256" y="1399032"/>
            <a:ext cx="33924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83A5E"/>
                </a:solidFill>
                <a:latin typeface="Arial"/>
              </a:rPr>
              <a:t>2. Business Assessment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34256" y="1655064"/>
            <a:ext cx="3392424" cy="17739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A3F44"/>
                </a:solidFill>
                <a:latin typeface="Arial"/>
              </a:rPr>
              <a:t>• Target segment and market size?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A3F44"/>
                </a:solidFill>
                <a:latin typeface="Arial"/>
              </a:rPr>
              <a:t>• Customer preferences and evidence?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A3F44"/>
                </a:solidFill>
                <a:latin typeface="Arial"/>
              </a:rPr>
              <a:t>• Truly unique / a differentiator?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A3F44"/>
                </a:solidFill>
                <a:latin typeface="Arial"/>
              </a:rPr>
              <a:t>• Competitive landscape?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A3F44"/>
                </a:solidFill>
                <a:latin typeface="Arial"/>
              </a:rPr>
              <a:t>• Comprehensive risk mitigation plan?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91856" y="1325880"/>
            <a:ext cx="3739896" cy="2194560"/>
          </a:xfrm>
          <a:prstGeom prst="rect">
            <a:avLst/>
          </a:prstGeom>
          <a:solidFill>
            <a:srgbClr val="E9F0F6"/>
          </a:solidFill>
          <a:ln w="9525">
            <a:solidFill>
              <a:srgbClr val="BEC4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101584" y="1399032"/>
            <a:ext cx="3520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83A5E"/>
                </a:solidFill>
                <a:latin typeface="Arial"/>
              </a:rPr>
              <a:t>3. Technical Assessment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01584" y="1655064"/>
            <a:ext cx="3520440" cy="17739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A3F44"/>
                </a:solidFill>
                <a:latin typeface="Arial"/>
              </a:rPr>
              <a:t>• Existing technology that can address this?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A3F44"/>
                </a:solidFill>
                <a:latin typeface="Arial"/>
              </a:rPr>
              <a:t>• Long-term architecture impact?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A3F44"/>
                </a:solidFill>
                <a:latin typeface="Arial"/>
              </a:rPr>
              <a:t>• Impact on critical systems?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A3F44"/>
                </a:solidFill>
                <a:latin typeface="Arial"/>
              </a:rPr>
              <a:t>• Part of an upcoming platform upgrade?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703320"/>
            <a:ext cx="11277295" cy="2194560"/>
          </a:xfrm>
          <a:prstGeom prst="rect">
            <a:avLst/>
          </a:prstGeom>
          <a:solidFill>
            <a:srgbClr val="E9F0F6"/>
          </a:solidFill>
          <a:ln w="9525">
            <a:solidFill>
              <a:srgbClr val="BEC4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66928" y="3776472"/>
            <a:ext cx="1105783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83A5E"/>
                </a:solidFill>
                <a:latin typeface="Arial"/>
              </a:rPr>
              <a:t>How to Use These Questions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4032504"/>
            <a:ext cx="11057839" cy="17739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A3F44"/>
                </a:solidFill>
                <a:latin typeface="Arial"/>
              </a:rPr>
              <a:t>Work through each question before submission and make sure the one-page summary answers it explicitly.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A3F44"/>
                </a:solidFill>
                <a:latin typeface="Arial"/>
              </a:rPr>
              <a:t>An unanswered challenge question is the most common reason a Stage 1 proposal is sent back for rework.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A3F44"/>
                </a:solidFill>
                <a:latin typeface="Arial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A3F44"/>
                </a:solidFill>
                <a:latin typeface="Arial"/>
              </a:rPr>
              <a:t>Where the answer is genuinely unknown at this stage, say so and state how and when it will be resolved —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A3F44"/>
                </a:solidFill>
                <a:latin typeface="Arial"/>
              </a:rPr>
              <a:t>the ISB accepts open items with an owner and a date; it does not accept silence.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78"/>
                </a:solidFill>
                <a:latin typeface="Arial"/>
              </a:rPr>
              <a:t>REFERENCE</a:t>
            </a:r>
          </a:p>
        </p:txBody>
      </p:sp>
      <p:pic>
        <p:nvPicPr>
          <p:cNvPr id="3" name="Picture 2" descr="logo_defa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28600"/>
            <a:ext cx="1417320" cy="2725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"/>
            <a:ext cx="10058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0B4F80"/>
                </a:solidFill>
                <a:latin typeface="Arial"/>
              </a:rPr>
              <a:t>Key Challenge Questions (2 of 2)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9264"/>
            <a:ext cx="11277295" cy="15240"/>
          </a:xfrm>
          <a:prstGeom prst="rect">
            <a:avLst/>
          </a:prstGeom>
          <a:solidFill>
            <a:srgbClr val="BEC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9AA1A7"/>
                </a:solidFill>
                <a:latin typeface="Arial"/>
              </a:rPr>
              <a:t>Source: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6446520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9AA1A7"/>
                </a:solidFill>
                <a:latin typeface="Arial"/>
              </a:rPr>
              <a:t>Meridian Bank |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9AA1A7"/>
                </a:solidFill>
                <a:latin typeface="Arial"/>
              </a:rPr>
              <a:t>4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143000"/>
            <a:ext cx="3611880" cy="2651760"/>
          </a:xfrm>
          <a:prstGeom prst="rect">
            <a:avLst/>
          </a:prstGeom>
          <a:solidFill>
            <a:srgbClr val="E9F0F6"/>
          </a:solidFill>
          <a:ln w="9525">
            <a:solidFill>
              <a:srgbClr val="BEC4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66928" y="1216152"/>
            <a:ext cx="33924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83A5E"/>
                </a:solidFill>
                <a:latin typeface="Arial"/>
              </a:rPr>
              <a:t>4. Other Assessments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472184"/>
            <a:ext cx="3392424" cy="22311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A3F44"/>
                </a:solidFill>
                <a:latin typeface="Arial"/>
              </a:rPr>
              <a:t>• Regulatory considerations?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A3F44"/>
                </a:solidFill>
                <a:latin typeface="Arial"/>
              </a:rPr>
              <a:t>• Compliance and risk observations?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A3F44"/>
                </a:solidFill>
                <a:latin typeface="Arial"/>
              </a:rPr>
              <a:t>• Operational impact and FTE requirement?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A3F44"/>
                </a:solidFill>
                <a:latin typeface="Arial"/>
              </a:rPr>
              <a:t>• Any other material observations?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24528" y="1143000"/>
            <a:ext cx="3611880" cy="2651760"/>
          </a:xfrm>
          <a:prstGeom prst="rect">
            <a:avLst/>
          </a:prstGeom>
          <a:solidFill>
            <a:srgbClr val="E9F0F6"/>
          </a:solidFill>
          <a:ln w="9525">
            <a:solidFill>
              <a:srgbClr val="BEC4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334256" y="1216152"/>
            <a:ext cx="33924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83A5E"/>
                </a:solidFill>
                <a:latin typeface="Arial"/>
              </a:rPr>
              <a:t>5. High-Level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4256" y="1472184"/>
            <a:ext cx="3392424" cy="22311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A3F44"/>
                </a:solidFill>
                <a:latin typeface="Arial"/>
              </a:rPr>
              <a:t>• Can it be broken into MVPs?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A3F44"/>
                </a:solidFill>
                <a:latin typeface="Arial"/>
              </a:rPr>
              <a:t>• Benefits attributable to each MVP?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A3F44"/>
                </a:solidFill>
                <a:latin typeface="Arial"/>
              </a:rPr>
              <a:t>• Are the timelines realistic?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A3F44"/>
                </a:solidFill>
                <a:latin typeface="Arial"/>
              </a:rPr>
              <a:t>• What accelerates or delays delivery?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A3F44"/>
                </a:solidFill>
                <a:latin typeface="Arial"/>
              </a:rPr>
              <a:t>• Internal (cross-functional) dependencies?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A3F44"/>
                </a:solidFill>
                <a:latin typeface="Arial"/>
              </a:rPr>
              <a:t>• External (regulatory) dependencies?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91856" y="1143000"/>
            <a:ext cx="3739896" cy="2651760"/>
          </a:xfrm>
          <a:prstGeom prst="rect">
            <a:avLst/>
          </a:prstGeom>
          <a:solidFill>
            <a:srgbClr val="E9F0F6"/>
          </a:solidFill>
          <a:ln w="9525">
            <a:solidFill>
              <a:srgbClr val="BEC4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101584" y="1216152"/>
            <a:ext cx="3520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83A5E"/>
                </a:solidFill>
                <a:latin typeface="Arial"/>
              </a:rPr>
              <a:t>6. Benefits Overview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01584" y="1472184"/>
            <a:ext cx="3520440" cy="22311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A3F44"/>
                </a:solidFill>
                <a:latin typeface="Arial"/>
              </a:rPr>
              <a:t>• Key assumptions behind the benefits?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A3F44"/>
                </a:solidFill>
                <a:latin typeface="Arial"/>
              </a:rPr>
              <a:t>• Are those assumptions reasonable?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A3F44"/>
                </a:solidFill>
                <a:latin typeface="Arial"/>
              </a:rPr>
              <a:t>• Over what period are benefits projected?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A3F44"/>
                </a:solidFill>
                <a:latin typeface="Arial"/>
              </a:rPr>
              <a:t>• What is the long-term financial benefit?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A3F44"/>
                </a:solidFill>
                <a:latin typeface="Arial"/>
              </a:rPr>
              <a:t>• Non-financial benefits beyond TAT and fines avoidance?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977640"/>
            <a:ext cx="11277295" cy="1737360"/>
          </a:xfrm>
          <a:prstGeom prst="rect">
            <a:avLst/>
          </a:prstGeom>
          <a:solidFill>
            <a:srgbClr val="E9F0F6"/>
          </a:solidFill>
          <a:ln w="9525">
            <a:solidFill>
              <a:srgbClr val="BEC4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66928" y="4050792"/>
            <a:ext cx="1105783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83A5E"/>
                </a:solidFill>
                <a:latin typeface="Arial"/>
              </a:rPr>
              <a:t>Progression to Stage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4306824"/>
            <a:ext cx="11057839" cy="1316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A3F44"/>
                </a:solidFill>
                <a:latin typeface="Arial"/>
              </a:rPr>
              <a:t>ISB1 review → ISB2 approval → Detailed Business Case (CIC).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A3F44"/>
                </a:solidFill>
                <a:latin typeface="Arial"/>
              </a:rPr>
              <a:t>ISB2 approval must be secured before the business case is submitted to Central Finance,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A3F44"/>
                </a:solidFill>
                <a:latin typeface="Arial"/>
              </a:rPr>
              <a:t>and every ISB action must be closed in the final submission.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78"/>
                </a:solidFill>
                <a:latin typeface="Arial"/>
              </a:rPr>
              <a:t>REFERENCE</a:t>
            </a:r>
          </a:p>
        </p:txBody>
      </p:sp>
      <p:pic>
        <p:nvPicPr>
          <p:cNvPr id="3" name="Picture 2" descr="logo_defa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28600"/>
            <a:ext cx="1417320" cy="2725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"/>
            <a:ext cx="10058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0B4F80"/>
                </a:solidFill>
                <a:latin typeface="Arial"/>
              </a:rPr>
              <a:t>Solution Selection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A3F44"/>
                </a:solidFill>
                <a:latin typeface="Arial"/>
              </a:rPr>
              <a:t>Build vs Buy — the ISB expects a justified recommendation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1277295" cy="15240"/>
          </a:xfrm>
          <a:prstGeom prst="rect">
            <a:avLst/>
          </a:prstGeom>
          <a:solidFill>
            <a:srgbClr val="BEC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9AA1A7"/>
                </a:solidFill>
                <a:latin typeface="Arial"/>
              </a:rPr>
              <a:t>Source: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9AA1A7"/>
                </a:solidFill>
                <a:latin typeface="Arial"/>
              </a:rPr>
              <a:t>Meridian Bank | Internal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9AA1A7"/>
                </a:solidFill>
                <a:latin typeface="Arial"/>
              </a:rPr>
              <a:t>5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1325880"/>
          <a:ext cx="11277293" cy="1444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2133"/>
                <a:gridCol w="4492580"/>
                <a:gridCol w="4492580"/>
              </a:tblGrid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Archetype</a:t>
                      </a:r>
                    </a:p>
                  </a:txBody>
                  <a:tcPr marL="54864" marR="54864" marT="27432" marB="27432" anchor="ctr">
                    <a:solidFill>
                      <a:srgbClr val="0B4F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Build</a:t>
                      </a:r>
                    </a:p>
                  </a:txBody>
                  <a:tcPr marL="54864" marR="54864" marT="27432" marB="27432" anchor="ctr">
                    <a:solidFill>
                      <a:srgbClr val="0B4F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Buy</a:t>
                      </a:r>
                    </a:p>
                  </a:txBody>
                  <a:tcPr marL="54864" marR="54864" marT="27432" marB="27432" anchor="ctr">
                    <a:solidFill>
                      <a:srgbClr val="0B4F8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Description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Custom solution built to bank-specific requirements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Off-the-shelf, customized if necessary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Vendor options</a:t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Internal development team, custom software vendors</a:t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Existing panel vendors, new vendors</a:t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When to choose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Strong business differentiation, faster time to market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Standard capability, mature vendor ecosystem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3108960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83A5E"/>
                </a:solidFill>
                <a:latin typeface="Arial"/>
              </a:rPr>
              <a:t>Decision Criteria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3337560"/>
          <a:ext cx="11277293" cy="2359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2245"/>
                <a:gridCol w="4217524"/>
                <a:gridCol w="4217524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Factor</a:t>
                      </a:r>
                    </a:p>
                  </a:txBody>
                  <a:tcPr marL="54864" marR="54864" marT="27432" marB="27432" anchor="ctr">
                    <a:solidFill>
                      <a:srgbClr val="0B4F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Favours Build</a:t>
                      </a:r>
                    </a:p>
                  </a:txBody>
                  <a:tcPr marL="54864" marR="54864" marT="27432" marB="27432" anchor="ctr">
                    <a:solidFill>
                      <a:srgbClr val="0B4F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Favours Buy</a:t>
                      </a:r>
                    </a:p>
                  </a:txBody>
                  <a:tcPr marL="54864" marR="54864" marT="27432" marB="27432" anchor="ctr">
                    <a:solidFill>
                      <a:srgbClr val="0B4F80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Differentiation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Core to competitive advantage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Standard capability, commodity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Time-to-market</a:t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In-house team can deliver faster</a:t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Vendor solution ready sooner</a:t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Customization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Highly bank-specific requirements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Configurable off-the-shelf meets 80%+ of needs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Total cost of ownership</a:t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Lower 5-year TCO with internal build</a:t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Lower 5-year TCO with vendor</a:t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Maintenance burden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Team has capacity for ongoing support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Prefer vendor-managed updates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Vendor landscape</a:t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No strong vendors exist</a:t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Mature vendor ecosystem</a:t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Architecture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Must integrate deeply with core systems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Standalone or loosely coupled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5943600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6B7278"/>
                </a:solidFill>
                <a:latin typeface="Arial"/>
              </a:rPr>
              <a:t>Always address: why was the alternative rejected, and what trade-offs were accepted?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Stage 1 Project Proposal Template (TMP-CIC-002 V1.0)</dc:title>
  <dc:subject/>
  <dc:creator>Meridian Bank</dc:creator>
  <cp:keywords/>
  <dc:description>Generic bank template — fictional institution.</dc:description>
  <cp:lastModifiedBy>Meridian Bank</cp:lastModifiedBy>
  <cp:revision>1</cp:revision>
  <dcterms:created xsi:type="dcterms:W3CDTF">2013-01-27T09:14:16Z</dcterms:created>
  <dcterms:modified xsi:type="dcterms:W3CDTF">2013-01-27T09:15:58Z</dcterms:modified>
  <cp:category>Template</cp:category>
</cp:coreProperties>
</file>