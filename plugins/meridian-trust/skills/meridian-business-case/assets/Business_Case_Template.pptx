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4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11480"/>
            <a:ext cx="1417320" cy="272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B4F80"/>
                </a:solidFill>
                <a:latin typeface="Arial"/>
              </a:rPr>
              <a:t>[Project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A3F44"/>
                </a:solidFill>
                <a:latin typeface="Arial"/>
              </a:rPr>
              <a:t>Detailed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Prepared By: [Name], [Department]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Presented By: [Name], [Department]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Capital Investment Committee (CIC)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78"/>
                </a:solidFill>
                <a:latin typeface="Arial"/>
              </a:rPr>
              <a:t>Date: DD-MM-YYYY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Single-page summary for CIC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6492240" cy="9144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399032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Project Name and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27278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[Project name] — [Business unit / owner]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13432"/>
            <a:ext cx="6492240" cy="109728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2386584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Background and Business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42616"/>
            <a:ext cx="6272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[Context, requirements and business demand driving this project]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83864"/>
            <a:ext cx="649224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557016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Benefits (Financial &amp; Non-Financial)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13048"/>
            <a:ext cx="62727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[Cost savings, FTE saves, revenue, compliance, customer experience]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17136"/>
            <a:ext cx="6492240" cy="8229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590288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Project Scope /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46320"/>
            <a:ext cx="6272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[Deliverables, goals, tasks] | Stakeholders: [list]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on Major System Clusters (H / M / L)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5660136"/>
          <a:ext cx="6492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590"/>
                <a:gridCol w="811530"/>
                <a:gridCol w="2434590"/>
                <a:gridCol w="81153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Core Banking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Origination &amp; Onboarding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Payments Hub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Digital Channels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H/M/L/N/A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178040" y="1325880"/>
            <a:ext cx="4553712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87768" y="1399032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Financial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1655064"/>
            <a:ext cx="4334256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Best Estimate Total Cost: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Incremental Opex: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Capex: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Benefits Type:  ☐ Financial   ☐ Non-Financial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Expected Benefits (5 yrs post-impl.):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*NPV (next 5 years):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Included in Annual Project Plan:  Yes / No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EP Value: X.XX M   |   Shared IT Infrastructure: X.XX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136392"/>
            <a:ext cx="4553712" cy="77724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87768" y="3209544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3465576"/>
            <a:ext cx="43342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Project Duration: XX Months          Baseline Start: QX YYYY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Baseline Finish: QX YYYY          Regulatory Deadline: DD/MM/YYYY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986784"/>
            <a:ext cx="4553712" cy="73152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287768" y="4059936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Category (select one)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4315968"/>
            <a:ext cx="4334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☐ Regulatory &amp; Risk    ☐ Keep the Show on Road (KSOR)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☐ Strategic                 ☐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818888"/>
            <a:ext cx="4553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Sign-Offs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178040" y="5038343"/>
          <a:ext cx="455371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BH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Procurement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ISB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1.1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Detailed Costs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All figures in the reporting currency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Capital Expenditure (CapEx)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63624"/>
          <a:ext cx="6903719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248"/>
                <a:gridCol w="3313785"/>
                <a:gridCol w="1288694"/>
                <a:gridCol w="18409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Software Application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Rate Card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Implementation Cost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Negotiated Price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Professional Services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Standard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Contingency 10%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Incl. Contingency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 – Total (excl. Shared IT Infra.)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Shared IT 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Rate card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B – Total (Shared Infrastructure)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Grand Total (A+B)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35240" y="132588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Operating Expenditure (OpEx) – Year 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1563624"/>
          <a:ext cx="4096511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168"/>
                <a:gridCol w="2366873"/>
                <a:gridCol w="127447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Opex (Year 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635240" y="3200399"/>
            <a:ext cx="4096512" cy="201168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44968" y="3273551"/>
            <a:ext cx="3877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Costing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529583"/>
            <a:ext cx="3877056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Contingency applied to capital costs (default 10%)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Indirect tax applied to all cost lines including contingency (default 5%)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Shared IT infrastructure separated from project-specific cost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EP (Envelope Price) = Total A, excluding shared IT infrastructure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Confirm all three rates against current finance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1.2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NPV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Populate from Project_Costs_Template.xlsx — NPV &amp; IRR Calcs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3474720"/>
          </a:xfrm>
          <a:prstGeom prst="rect">
            <a:avLst/>
          </a:prstGeom>
          <a:solidFill>
            <a:srgbClr val="F4F6F7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78"/>
                </a:solidFill>
                <a:latin typeface="Arial"/>
              </a:rPr>
              <a:t>[ Paste the NPV &amp; IRR table or screenshot from the Excel model here 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029200"/>
          <a:ext cx="11277294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8872"/>
                <a:gridCol w="3289211"/>
                <a:gridCol w="328921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@ 100% Capital Cost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@ 130% Capital Cost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NPV (5 years)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CCY X.XX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CCY X.XX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IRR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XX.X%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Payback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2179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Approval requirement: NPV must be positive at both 100% and 130% of capital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1.3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Sign 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Mandatory approvals — evidence required, not verbal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3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999"/>
                <a:gridCol w="1828799"/>
                <a:gridCol w="487649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Sign Off By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Yes / No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Date / 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Business Head (BH)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Information Technology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Procurement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Investment Screening Board (ISB)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Compliance (if regulatory)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Corporate Services (if property / fit-out)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Central Finance will reject submissions without complete sign-off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1.4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Project Organization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3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3200399"/>
                <a:gridCol w="53336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Name &amp; Designation / Dept.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Sponsor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Sponsor the project and obtain funding and top management buy-in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Accountable Executive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Provide direction on the project as business head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Product / Project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Overall project management and day-to-day activities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Project Team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Carry out allocated project tasks and responsibilities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Steering 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Review/approve approach, progress and deliverables; provide management 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Subject Matter Experts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Expert advice and guidance on a need basis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Key Stakeholders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1.5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Benefits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5-year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422"/>
                <a:gridCol w="4266936"/>
                <a:gridCol w="4266936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Non-Financial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1600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  <a:r>
                        <a:rPr sz="1000" b="1">
                          <a:solidFill>
                            <a:srgbClr val="083A5E"/>
                          </a:solidFill>
                          <a:latin typeface="Arial"/>
                        </a:rPr>
                        <a:t>Quantifiable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  <a:r>
                        <a:rPr sz="1000" b="1">
                          <a:solidFill>
                            <a:srgbClr val="083A5E"/>
                          </a:solidFill>
                          <a:latin typeface="Arial"/>
                        </a:rPr>
                        <a:t>Non-Quantifiable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292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Every quantifiable benefit must trace to a documented assumption in the Excel model (Sheet 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1.6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Detailed Scope, Exclusions and Impact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Detailed Scope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Exclusions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926080"/>
          <a:ext cx="1127729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/>
                <a:gridCol w="1371599"/>
                <a:gridCol w="6248095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Project Impact Area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 / 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4462272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of Not Doing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18304"/>
            <a:ext cx="11057839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[Specific consequences — regulatory exposure, operational risk, cost of inaction, competitive loss.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A blank or generic answer here is a common rejection reason.]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1.7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Timelines, Deliverables and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Timelines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80744"/>
          <a:ext cx="1127729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/>
                <a:gridCol w="1828799"/>
                <a:gridCol w="1828799"/>
                <a:gridCol w="441929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Project Phase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 Start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 Finish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Deliverables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80720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KPIs — every measure requires a baseline AND a target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044952"/>
          <a:ext cx="1127729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413"/>
                <a:gridCol w="2383818"/>
                <a:gridCol w="1742021"/>
                <a:gridCol w="1742021"/>
                <a:gridCol w="174202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Performance Measure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Periodicity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1.8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Risk, Assumptions, Constraints,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4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Risk / Assumption / Constraint / Dependency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Mitigation Action Plan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Risk: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Assumption: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Constraint: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Dependency: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1605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Mitigations must be specific and actionable — named owner, date, fallback. Generic mitigations are rejected.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78"/>
                </a:solidFill>
                <a:latin typeface="Arial"/>
              </a:rPr>
              <a:t>SECTION 1.9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Disaster Recovery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Impact of unavailability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Bank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1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1828799"/>
                <a:gridCol w="1828799"/>
                <a:gridCol w="2285999"/>
                <a:gridCol w="350489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8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12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Up to 7 days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2286000"/>
            <a:ext cx="5486400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359152"/>
            <a:ext cx="5266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526694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1 = No impact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2 = Minor disruption to operations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3 = Work in constrained performance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4 = Indispensable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2286000"/>
            <a:ext cx="5486400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2359152"/>
            <a:ext cx="5266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15184"/>
            <a:ext cx="526694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State the recovery time objective (RTO) and recovery point objective (RPO) assumed,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and which system clusters carry the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Business Case Template (TMP-CIC-001 V1.0)</dc:title>
  <dc:subject/>
  <dc:creator>Meridian Bank</dc:creator>
  <cp:keywords/>
  <dc:description>Generic bank template — fictional institution.</dc:description>
  <cp:lastModifiedBy>Meridian Bank</cp:lastModifiedBy>
  <cp:revision>1</cp:revision>
  <dcterms:created xsi:type="dcterms:W3CDTF">2013-01-27T09:14:16Z</dcterms:created>
  <dcterms:modified xsi:type="dcterms:W3CDTF">2013-01-27T09:15:58Z</dcterms:modified>
  <cp:category>Template</cp:category>
</cp:coreProperties>
</file>